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y pantallas provienen de la descripción y capturas proporcionadas por 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del levantamiento del usuario.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Imágenes proporcionadas por el usuario en esta conversación (capturas internas).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end-to-end del proceso de venta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contacto → proyecto → renders → cotización → folios/comercializados → ERP → entrega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5394960" cy="34747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609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3008376"/>
            <a:ext cx="489204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LI como “hub” (vista única del cliente/proyecto)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proyecto (estatus, bloqueos, responsables)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adjuntos, chat/eventos y rentabilidad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doble captura y “sistemas aislados”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514600"/>
            <a:ext cx="5120640" cy="34747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6609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en alcance (según levantamiento)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56832" y="3008376"/>
            <a:ext cx="461772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LI (contactos, prospectos, clientes, proyectos)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Proyectos/Renders (tickets, asignación, entregables)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(BOM/productos, precio, margen)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Previos/Folios (a la medida)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Comercializados (terceros) – en desarrollo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(facturación / documento oficial)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583680"/>
            <a:ext cx="11201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inicial para mapeo AS-IS → TO-BE y definición de integraciones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sistemas y objetos “dueños de la verdad”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/ TO-BE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clave: hoy los sistemas están aislados; TO-BE define fuente de verdad por entidad + eventos de sincronización.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240280" cy="54864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08176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1280160"/>
            <a:ext cx="3794760" cy="54864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408176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principal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5440680" cy="54864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4848" y="1408176"/>
            <a:ext cx="5221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/ Fuente de verdad (TO-BE)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38528"/>
            <a:ext cx="2020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1828800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1938528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Proyecto / Actividades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1938528"/>
            <a:ext cx="5221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operativo: estatus del proyecto, timeline, links a tickets/cotizaciones/folios y documentos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487168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96896"/>
            <a:ext cx="2020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(antes Proyectos)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2487168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0088" y="2596896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render + entregables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487168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2596896"/>
            <a:ext cx="5221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y estatus de render; adjuntos y chat. Publica “liberación” a CRM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145536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55264"/>
            <a:ext cx="2020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80360" y="3145536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0088" y="3255264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+ líneas (BOM)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3145536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3255264"/>
            <a:ext cx="5221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precio, descuentos, margen; detecta faltantes (folio/comercializado) y expone rentabilidad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803904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913632"/>
            <a:ext cx="2020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Previos/Folios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80360" y="3803904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0088" y="3913632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 → Folio oficial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3803904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3913632"/>
            <a:ext cx="5221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producto a medida: costo/precio, aprobación y folio oficial para ERP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462272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572000"/>
            <a:ext cx="2020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Comercializados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80360" y="4462272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0088" y="457200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proveedor → Código oficial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4462272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4572000"/>
            <a:ext cx="5221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productos de terceros (en desarrollo): costo/precio, conversión a código oficial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5120640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230368"/>
            <a:ext cx="2020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80360" y="5120640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0088" y="5230368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/ Factura / Folio oficial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5120640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84848" y="5230368"/>
            <a:ext cx="5221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contable/fiscal: reconoce Folio oficial (no “previo”). Debe recibir altas/códigos oficiales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5897880"/>
            <a:ext cx="10972800" cy="8686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6044184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 a fijar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96112" y="6336792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únicos: ClienteID, ProyectoID, TicketRenderID, CotizaciónID, PrevioID, FolioID, CódigoComercializadoID, ERPDocID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sincronización (near-real-time vs batch), reintentos y bitácora de errores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operativo: Cliente ↔ Proyecto ↔ Subprocesos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objetos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“proyecto” es el contenedor transversal: concentra renders, cotización, folios/comercializados y, después, ERP/entrega.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2194560" cy="411480"/>
          </a:xfrm>
          <a:prstGeom prst="roundRect">
            <a:avLst/>
          </a:prstGeom>
          <a:solidFill>
            <a:srgbClr val="0F6B7B"/>
          </a:solidFill>
          <a:ln w="12700">
            <a:solidFill>
              <a:srgbClr val="0F6B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72184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627632"/>
            <a:ext cx="50292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11880" y="1417320"/>
            <a:ext cx="2194560" cy="411480"/>
          </a:xfrm>
          <a:prstGeom prst="roundRect">
            <a:avLst/>
          </a:prstGeom>
          <a:solidFill>
            <a:srgbClr val="0F6B7B"/>
          </a:solidFill>
          <a:ln w="12700">
            <a:solidFill>
              <a:srgbClr val="0F6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1472184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627632"/>
            <a:ext cx="50292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1417320"/>
            <a:ext cx="2194560" cy="4114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472184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92024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actual: pasa a “Prospecto” si datos validados; se vuelve “Cliente” tras la 1ª venta. Recompra refuerza estado Cliente.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651760"/>
            <a:ext cx="10927080" cy="3429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834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(ProyectoID)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3291840"/>
            <a:ext cx="2514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456432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/ Planos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3291840"/>
            <a:ext cx="2514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3048" y="3456432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Renders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291840"/>
            <a:ext cx="2514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3456432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3291840"/>
            <a:ext cx="2697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16568" y="345643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/ Comercializados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1560" y="4343400"/>
            <a:ext cx="29260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4507992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(OV/Factura)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4343400"/>
            <a:ext cx="29260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4507992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/ Evidencia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4343400"/>
            <a:ext cx="4526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7768" y="4507992"/>
            <a:ext cx="4306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Postventa / Recompra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23960" y="1143000"/>
            <a:ext cx="2926080" cy="13716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12893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dolor (AS-IS)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79992" y="163677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visibilidad de estatus entre portales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dispersos / sin vínculo al proyecto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Bloqueos: folio/tercero sin liberar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TO-BE: CRM LI como hub (centralizar seguimiento)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integración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operacional: desde “Proyectos” en CRM ver estatus y bloqueos de cada subsistema (rendes, cotización, folios, ERP).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2240280"/>
            <a:ext cx="2606040" cy="1234440"/>
          </a:xfrm>
          <a:prstGeom prst="round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359152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(Hub)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2606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1417320"/>
            <a:ext cx="2606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6184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34840"/>
            <a:ext cx="2606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36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Previos/Folios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4434840"/>
            <a:ext cx="2606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4636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4480560"/>
            <a:ext cx="2606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6817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1874520"/>
            <a:ext cx="1280160" cy="82296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1874520"/>
            <a:ext cx="1325880" cy="82296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20440" y="3246120"/>
            <a:ext cx="1280160" cy="164592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06640" y="3246120"/>
            <a:ext cx="1325880" cy="164592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45352" y="3474720"/>
            <a:ext cx="0" cy="100584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5669280"/>
            <a:ext cx="10972800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788152"/>
            <a:ext cx="10744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mínimos a sincronizar (ejemplos)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601675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Renders: TicketCreado, Asignado, InfoSolicitada, EntregableLiberado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Cotizador: CotizaciónCreada/Actualizada, IncompletaPorFolio/Comercializado, MargenCalculado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Folios/Comercializados: PrevioCreado, CostoAsignado, Aprobado, CódigoOficialEmitido, EnviadoAERP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ERP: OrdenVentaCreada, FacturaEmitida, EstatusCobranza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1: Levantamiento → Solicitud de Renders → Entregables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(TO-BE)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2788920" cy="36576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(Ventas)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27889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005840"/>
            <a:ext cx="2331720" cy="36576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0789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331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005840"/>
            <a:ext cx="2880360" cy="36576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07899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Renders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371600"/>
            <a:ext cx="2880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32520" y="1005840"/>
            <a:ext cx="2880360" cy="36576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107899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Renderista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1371600"/>
            <a:ext cx="2880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1600200"/>
            <a:ext cx="2423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673352"/>
            <a:ext cx="2148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Recibe solicitud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planos / requerimiento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1600200"/>
            <a:ext cx="1874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673352"/>
            <a:ext cx="1600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Crea/actualiza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 CRM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901952"/>
            <a:ext cx="45720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0" y="2468880"/>
            <a:ext cx="1874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542032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Dispara “Solicitar render”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(vía botón/acción)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2286000"/>
            <a:ext cx="182880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89320" y="201168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084832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Crea TicketRender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liga a ProyectoID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292608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999232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Asigna renderista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fecha/SLA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03920" y="3246120"/>
            <a:ext cx="22860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15400" y="292608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2999232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Inicia trabajo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solicita info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15400" y="3886200"/>
            <a:ext cx="2514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395935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Chat + eventos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("solicitar info",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"cambio")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H="1">
            <a:off x="6080760" y="4297680"/>
            <a:ext cx="2651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89320" y="3931920"/>
            <a:ext cx="2514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005072"/>
            <a:ext cx="2240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Notifica y registra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en ticket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flipH="1">
            <a:off x="5532120" y="4297680"/>
            <a:ext cx="274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657600" y="3931920"/>
            <a:ext cx="1874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4005072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CRM refleja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“Info solicitada”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tarea al ejecutivo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15400" y="484632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4919472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Libera entregables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(PDF/imagenes)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Excel BOM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 flipH="1">
            <a:off x="6080760" y="5166360"/>
            <a:ext cx="265176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89320" y="4846320"/>
            <a:ext cx="2514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919472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11) Publica archivos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estatus “Liberado”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 flipH="1">
            <a:off x="5532120" y="5166360"/>
            <a:ext cx="27432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657600" y="4846320"/>
            <a:ext cx="1874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4919472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12) CRM adjunta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al proyecto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liga al ticket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4360" y="6053328"/>
            <a:ext cx="11018520" cy="71323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6199632"/>
            <a:ext cx="10561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a cuidar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50392" y="6492240"/>
            <a:ext cx="105156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de entregables (v1, v2…) + quién autorizó el envío al cliente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 estándar: Creado / Asignado / En proceso / Info solicitada / Liberado / Cancelado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2: Cotización (Cotizador) + detección de bloqueos por producto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063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24712"/>
            <a:ext cx="27889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CRM recibe Excel BOM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Renders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0" y="1389888"/>
            <a:ext cx="54864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34840" y="1051560"/>
            <a:ext cx="3063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124712"/>
            <a:ext cx="27889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Cotizador crea/actualiza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vinculada a ProyectoID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43800" y="1389888"/>
            <a:ext cx="54864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38160" y="1051560"/>
            <a:ext cx="3337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124712"/>
            <a:ext cx="3063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Consulta productos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(estándar) en ERP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057400"/>
            <a:ext cx="10744200" cy="29718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21284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líneas (por cada producto)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2651760"/>
            <a:ext cx="3108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724912"/>
            <a:ext cx="2834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Existe en ERP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cotiza normal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2651760"/>
            <a:ext cx="3108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724912"/>
            <a:ext cx="2834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Producto de tercero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("Comercializado")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26680" y="265176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724912"/>
            <a:ext cx="3291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Producto a medida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("Folio")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3520440"/>
            <a:ext cx="0" cy="64008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43400" y="4251960"/>
            <a:ext cx="3108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3159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requerimiento → Compras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costo/precio → Código oficial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64040" y="3520440"/>
            <a:ext cx="0" cy="64008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26680" y="42519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3159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 → asignación costo/precio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aprobación → Folio oficial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525780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330952"/>
            <a:ext cx="3383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Cotización “Completa”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“Incompleta” con motivo)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5623560"/>
            <a:ext cx="54864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29200" y="525780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5330952"/>
            <a:ext cx="3291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Margen/rentabilidad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calculados en Cotizador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41080" y="5623560"/>
            <a:ext cx="54864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35440" y="5257800"/>
            <a:ext cx="2240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5330952"/>
            <a:ext cx="1965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CRM recibe: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1520" y="6172200"/>
            <a:ext cx="10744200" cy="5943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6318504"/>
            <a:ext cx="10287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a cubrir (que hoy se atoran)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87552" y="6611112"/>
            <a:ext cx="102412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aceptada pero líneas con “previo” o “código proveedor” sin convertir a oficial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versiones: cotización v1/v2, aprobación interna de descuentos, y quién envió al cliente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3: Previos/Folios (a medida) y sincronización con ERP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crítica: ERP reconoce Folio oficial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cotización se acepta: convertir “Previo” a “Folio oficial” + enviar al ERP y retroalimentar al Cotizador/CRM.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520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9903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Cotizador detecta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“Producto a medida”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737360"/>
            <a:ext cx="22860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89120" y="1325880"/>
            <a:ext cx="3520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9903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Crea Previo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(Portal Folios)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09560" y="1737360"/>
            <a:ext cx="22860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325880"/>
            <a:ext cx="3520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39903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Compras/Ing.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costo + tarifa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567160" y="2148840"/>
            <a:ext cx="0" cy="18288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2331720"/>
            <a:ext cx="3520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40487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Aprobación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2743200"/>
            <a:ext cx="22860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89120" y="2331720"/>
            <a:ext cx="3520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40487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Emite Folio oficial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 cancela previos)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09560" y="2743200"/>
            <a:ext cx="228600" cy="0"/>
          </a:xfrm>
          <a:prstGeom prst="line">
            <a:avLst/>
          </a:prstGeom>
          <a:noFill/>
          <a:ln w="25400">
            <a:solidFill>
              <a:srgbClr val="0F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38160" y="2331720"/>
            <a:ext cx="3520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40487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Inserta al ERP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(Alta/actualización)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246120"/>
            <a:ext cx="10972800" cy="14173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3649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obligatoria (para cerrar el ciclo)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63931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Portal Folios → Cotizador: reemplazar “Previo” por “Folio oficial” en líneas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Cotizador → CRM: estatus “Cotización completa” + conteo de folios pendientes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 → CRM: confirmación de alta (folio existente) y errores de inserción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800600"/>
            <a:ext cx="10972800" cy="192024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9469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adicionales (a cubrir en diseño)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5294376"/>
            <a:ext cx="104698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rechazos: si “Previo” se rechaza, regresar a ventas con motivo y alternativas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alcance: re-cotización debe reabrir folios/comercializados afectados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envío a cliente si la cotización contiene elementos sin “código oficial”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auditoría: quién cambió costo/precio y cuándo (trazabilidad)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detectadas para un flujo robusto (y controles)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integración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669280" cy="53949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97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(datos + operación)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545336"/>
            <a:ext cx="516636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 de clientes/contactos (RFC, email, teléfono) y “merge” controlado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estados por subsistema + mapeo a estados del proyecto en CRM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Versionado: renders y cotizaciones (v1/v2…) + aprobación y “enviado al cliente”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documental: repositorio único por ProyectoID (planos, renders, PDF cotización, evidencia)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Roles/permisos: quién puede ver costos/márgenes, quién aprueba descuentos, quién libera entregables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051560"/>
            <a:ext cx="5257800" cy="53949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19786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(integración + control)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1112" y="1545336"/>
            <a:ext cx="475488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resiliente: colas, reintentos, idempotencia y bitácora de errores (no “silencios”)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SLA/alertas: tickets sin asignar, info solicitada sin respuesta, folios/comercializados pendientes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fiscales/operativas: moneda, IVA, fletes/servicios, redondeos, vigencia de precios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Cancelaciones: proyecto cancelado debe cancelar ticket/cotización/folios y marcar ERP si aplica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tiempo de render, tiempo de cotización, % bloqueos por folio/tercero, margen por proyecto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mínimo de datos + eventos de sincronización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interfaz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que el CRM pueda responder 3 preguntas por proyecto: (1) ¿en qué estatus va? (2) ¿qué falta? (3) ¿quién lo tiene?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834640" cy="45720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3560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325880"/>
            <a:ext cx="2971800" cy="45720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435608"/>
            <a:ext cx="2752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verdad (TO-BE)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325880"/>
            <a:ext cx="5742432" cy="457200"/>
          </a:xfrm>
          <a:prstGeom prst="rect">
            <a:avLst/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435608"/>
            <a:ext cx="5522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/ datos mínimos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178308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87452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Cliente/Contacto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474720" y="178308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87452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446520" y="178308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87452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CustomerCreated/Updated; claves: RFC/email/teléfono; sucursal; owner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40080" y="228600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3774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3474720" y="228600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37744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446520" y="228600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237744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ProjectCreated/Updated; estado; fecha cierre; links a ticket/cotización/ERP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0080" y="278892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88036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TicketRender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3474720" y="278892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88036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446520" y="278892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288036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TicketCreated/Assigned/InfoRequested/Delivered; archivos; timestamps; chat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40080" y="329184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38328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3474720" y="329184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338328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6446520" y="329184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56248" y="338328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QuoteCreated/Updated; status Completa/Incompleta; motivo; monto; margen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640080" y="37947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388620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Previo/Folio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3474720" y="379476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4448" y="388620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6446520" y="379476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388620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PrevioCreated; CostAssigned; Approved; FolioIssued; ERPPosted; mapping previo→folio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640080" y="429768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438912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Comercializado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3474720" y="429768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84448" y="438912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Comercializados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6446520" y="429768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56248" y="438912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VendorCodeCreated; Cost/Price; OfficialCodeIssued; ERPPosted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640080" y="480060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48920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Orden/Factura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3474720" y="480060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84448" y="489204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446520" y="480060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56248" y="489204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SalesOrderCreated; InvoiceIssued; PaymentStatus; errores de alta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640080" y="530352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" y="539496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060" dirty="0"/>
          </a:p>
        </p:txBody>
      </p:sp>
      <p:sp>
        <p:nvSpPr>
          <p:cNvPr id="56" name="Shape 54"/>
          <p:cNvSpPr/>
          <p:nvPr/>
        </p:nvSpPr>
        <p:spPr>
          <a:xfrm>
            <a:off x="3474720" y="530352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84448" y="539496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(repositorio)</a:t>
            </a:r>
            <a:endParaRPr lang="en-US" sz="1060" dirty="0"/>
          </a:p>
        </p:txBody>
      </p:sp>
      <p:sp>
        <p:nvSpPr>
          <p:cNvPr id="58" name="Shape 56"/>
          <p:cNvSpPr/>
          <p:nvPr/>
        </p:nvSpPr>
        <p:spPr>
          <a:xfrm>
            <a:off x="6446520" y="5303520"/>
            <a:ext cx="5742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56248" y="5394960"/>
            <a:ext cx="5522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DocAdded/Versioned; tipo; origen; checksum; visibilidad</a:t>
            </a:r>
            <a:endParaRPr lang="en-US" sz="1060" dirty="0"/>
          </a:p>
        </p:txBody>
      </p:sp>
      <p:sp>
        <p:nvSpPr>
          <p:cNvPr id="60" name="Shape 58"/>
          <p:cNvSpPr/>
          <p:nvPr/>
        </p:nvSpPr>
        <p:spPr>
          <a:xfrm>
            <a:off x="640080" y="5897880"/>
            <a:ext cx="10972800" cy="8229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8680" y="6044184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crítico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96112" y="6336792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obligatorio: {ProyectoID ↔ TicketRenderID ↔ CotizaciónID ↔ (PrevioID→FolioID / CódigoProveedor→CódigoOficial) ↔ ERPDocID}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este mapeo, no hay “seguimiento” real (solo islas).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sugerido (entregas incrementales)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0881360" cy="8686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097280"/>
            <a:ext cx="320040" cy="868680"/>
          </a:xfrm>
          <a:prstGeom prst="round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8872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— Fundaciones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8132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únicos + modelo de datos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estados y reglas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eventos y errores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10881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57400"/>
            <a:ext cx="320040" cy="868680"/>
          </a:xfrm>
          <a:prstGeom prst="roundRect">
            <a:avLst/>
          </a:prstGeom>
          <a:solidFill>
            <a:srgbClr val="0F6B7B"/>
          </a:solidFill>
          <a:ln w="12700">
            <a:solidFill>
              <a:srgbClr val="0F6B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14884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Renders ↔ CRM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4144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ticket desde CRM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estatus + chat/eventos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entregables al proyecto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10881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017520"/>
            <a:ext cx="320040" cy="868680"/>
          </a:xfrm>
          <a:prstGeom prst="roundRect">
            <a:avLst/>
          </a:prstGeom>
          <a:solidFill>
            <a:srgbClr val="0F6B7B"/>
          </a:solidFill>
          <a:ln w="12700">
            <a:solidFill>
              <a:srgbClr val="0F6B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1089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Cotizador ↔ CRM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40156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cotización al proyecto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“completa/incompleta” + motivo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margen/rentabilidad al CRM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10881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977640"/>
            <a:ext cx="320040" cy="868680"/>
          </a:xfrm>
          <a:prstGeom prst="roundRect">
            <a:avLst/>
          </a:prstGeom>
          <a:solidFill>
            <a:srgbClr val="0F6B7B"/>
          </a:solidFill>
          <a:ln w="12700">
            <a:solidFill>
              <a:srgbClr val="0F6B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06908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Folios/Comercializados ↔ ERP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36168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previo/código proveedor → oficial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Postear al ERP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Retroalimentar cotizador y CRM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937760"/>
            <a:ext cx="10881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937760"/>
            <a:ext cx="320040" cy="868680"/>
          </a:xfrm>
          <a:prstGeom prst="roundRect">
            <a:avLst/>
          </a:prstGeom>
          <a:solidFill>
            <a:srgbClr val="0F6B7B"/>
          </a:solidFill>
          <a:ln w="12700">
            <a:solidFill>
              <a:srgbClr val="0F6B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02920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Operación posterior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32180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Customer (ventas→operación)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Orden/Factura/Cobranza visibles en CRM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tableros por sucursal/ejecutivo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6172200"/>
            <a:ext cx="10881360" cy="5943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6318504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éxito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3272" y="6611112"/>
            <a:ext cx="10378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CRM, cada proyecto muestra: estatus por subsistema + bloqueos + responsable + documentos + margen.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3D4A"/>
          </a:solidFill>
          <a:ln w="12700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Apéndice: pantallas de referencia (capturas)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098280" y="1645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5715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1556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LI — Proyectos</a:t>
            </a:r>
            <a:endParaRPr lang="en-US" sz="1100" dirty="0"/>
          </a:p>
        </p:txBody>
      </p:sp>
      <p:pic>
        <p:nvPicPr>
          <p:cNvPr id="7" name="Image 0" descr="/mnt/data/b5b8af21-8082-438b-bcf0-e16f3b14dc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572" y="1417320"/>
            <a:ext cx="4526576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005840"/>
            <a:ext cx="58064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11556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Proyectos/Renders — Detalle de ticket</a:t>
            </a:r>
            <a:endParaRPr lang="en-US" sz="1100" dirty="0"/>
          </a:p>
        </p:txBody>
      </p:sp>
      <p:pic>
        <p:nvPicPr>
          <p:cNvPr id="10" name="Image 1" descr="/mnt/data/931e4c97-81e0-4892-9b5c-b8bce92345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759" y="1417320"/>
            <a:ext cx="4225082" cy="21945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4360" y="3886200"/>
            <a:ext cx="5715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399592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— Captura de productos</a:t>
            </a:r>
            <a:endParaRPr lang="en-US" sz="1100" dirty="0"/>
          </a:p>
        </p:txBody>
      </p:sp>
      <p:pic>
        <p:nvPicPr>
          <p:cNvPr id="13" name="Image 2" descr="/mnt/data/f6a58c0d-b06c-4e40-ac4e-e12a1948ad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05" y="4297680"/>
            <a:ext cx="5260509" cy="22402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55080" y="3886200"/>
            <a:ext cx="58064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92240" y="399592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Previos/Folios — Tablero</a:t>
            </a:r>
            <a:endParaRPr lang="en-US" sz="1100" dirty="0"/>
          </a:p>
        </p:txBody>
      </p:sp>
      <p:pic>
        <p:nvPicPr>
          <p:cNvPr id="16" name="Image 3" descr="/mnt/data/351d70f8-dbee-4e48-becd-e3225edfc98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04590"/>
            <a:ext cx="5532120" cy="12264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Creaciones Industriales - Documentación de procesos</dc:creator>
  <cp:lastModifiedBy>Creaciones Industriales - Documentación de procesos</cp:lastModifiedBy>
  <cp:revision>1</cp:revision>
  <dcterms:created xsi:type="dcterms:W3CDTF">2026-01-29T16:44:09Z</dcterms:created>
  <dcterms:modified xsi:type="dcterms:W3CDTF">2026-01-29T16:44:09Z</dcterms:modified>
</cp:coreProperties>
</file>