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65E31D-7093-4D6D-A826-B747B3A61721}" type="datetimeFigureOut">
              <a:rPr lang="es-MX" smtClean="0"/>
              <a:t>08/04/2026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5F1111-D780-4AF9-BBD5-6080E9263E7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3545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5F1111-D780-4AF9-BBD5-6080E9263E7A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1515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0C036B-0191-643A-2157-64DE105F6B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B27DF7B-EF3B-C5D2-0EAA-BDC90B84DC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B0C737-7F76-BB09-5698-ED6592B96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DE5E-C0C4-4479-AAE5-8056DFA93D80}" type="datetimeFigureOut">
              <a:rPr lang="es-MX" smtClean="0"/>
              <a:t>08/04/2026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7095EA-CEFD-DBC7-FB71-9BD54F76C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835B70-EF08-33B5-B125-B725665CA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83E5A-F24B-48DB-90F6-4DC89BDE334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8515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CAC659-8C14-17DB-D6A2-A418112D9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78CE57-B312-7522-1E97-E0FCDA2EA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EDB9DC-C5C8-3349-6058-059E08FCC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DE5E-C0C4-4479-AAE5-8056DFA93D80}" type="datetimeFigureOut">
              <a:rPr lang="es-MX" smtClean="0"/>
              <a:t>08/04/2026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EBBD03-CBB2-A725-2DF8-2DD4DBD20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393FE8-B31F-BB10-4FFF-8F5051032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83E5A-F24B-48DB-90F6-4DC89BDE334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15373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330116-5DB5-9EFD-DBEA-F2495DED5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32AE57-9047-5CF5-2EEC-FE6F492F4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909E7F-A89F-C5C0-6CE5-7A34CA57B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DE5E-C0C4-4479-AAE5-8056DFA93D80}" type="datetimeFigureOut">
              <a:rPr lang="es-MX" smtClean="0"/>
              <a:t>08/04/2026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1F9A5F-7EE0-6828-FCF7-651C096D4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778455-C78B-40FE-BAFD-211566C03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83E5A-F24B-48DB-90F6-4DC89BDE334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2524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F2B353-BAF7-2FC6-D1CA-C3B58B138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685348-D5AD-DDA1-A53C-E9227023CE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5876438-3C7D-3F32-9C6A-B9A3ABF257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4315830-9416-B5F3-5981-788D51172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DE5E-C0C4-4479-AAE5-8056DFA93D80}" type="datetimeFigureOut">
              <a:rPr lang="es-MX" smtClean="0"/>
              <a:t>08/04/2026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1EFBB1F-D456-A0E5-4FD7-F7831F600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00C203E-C613-F57C-2D78-F8961E45F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83E5A-F24B-48DB-90F6-4DC89BDE334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3824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F45C9F-67DB-D5D6-EF32-967BA61BE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32D4614-9DCF-26EF-170B-A991355AD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AFF7C24-BAE7-1E6F-53D5-5CB2E695B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7A49DAB-1945-142E-732D-A10F372D72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FCAAE1B-4093-8589-8FAB-E75F5C44FD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C3C063-AB46-D364-F9C8-193E1E6CB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DE5E-C0C4-4479-AAE5-8056DFA93D80}" type="datetimeFigureOut">
              <a:rPr lang="es-MX" smtClean="0"/>
              <a:t>08/04/2026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359B905-EC13-3DD6-C2D8-7D3EF53CB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7938F39-71BE-8FEB-DF84-99991A0A7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83E5A-F24B-48DB-90F6-4DC89BDE334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18646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5D2797-CEF5-F512-9D0C-DCB458A5D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F63D8EE-1EB2-2FB6-1CEA-777E2A3F8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DE5E-C0C4-4479-AAE5-8056DFA93D80}" type="datetimeFigureOut">
              <a:rPr lang="es-MX" smtClean="0"/>
              <a:t>08/04/2026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8108ECA-584E-602C-8134-519762249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F0ABBD2-7B3B-5371-C9BE-C08491A48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83E5A-F24B-48DB-90F6-4DC89BDE334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9647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3D80B66-3D34-1088-E33C-EC85AF0DE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DE5E-C0C4-4479-AAE5-8056DFA93D80}" type="datetimeFigureOut">
              <a:rPr lang="es-MX" smtClean="0"/>
              <a:t>08/04/2026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3F59DD7-6F30-7457-1B3D-09B35A8E2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B4038C2-17BC-DFFC-1F13-DAFB18D00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83E5A-F24B-48DB-90F6-4DC89BDE334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49411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BF10B6-31C5-8120-E28F-76DDF99E1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AE495D-FAF5-21E5-F5A1-1690F0BF4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C49227E-6E74-D0E8-7F5F-A01EB1D052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92EB3F3-1886-865C-D5FB-2E3FDAAA7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DE5E-C0C4-4479-AAE5-8056DFA93D80}" type="datetimeFigureOut">
              <a:rPr lang="es-MX" smtClean="0"/>
              <a:t>08/04/2026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F266784-C677-0611-5F86-A1ADBD003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66AAABA-FE11-B006-F3DA-B0D3922ED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83E5A-F24B-48DB-90F6-4DC89BDE334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25443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210E64-5D57-E5A5-5A0D-42A0E0DD2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186AFCF-78BB-496C-1547-F3E749798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485BC5E-0C7D-2BFC-CBDA-4E52259054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D14089E-5F98-02ED-DA74-787A2C56D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DE5E-C0C4-4479-AAE5-8056DFA93D80}" type="datetimeFigureOut">
              <a:rPr lang="es-MX" smtClean="0"/>
              <a:t>08/04/2026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0DAC4C4-BFC9-4974-2BA7-9682897D7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792C59A-9AB1-AD63-B8AA-139495F59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83E5A-F24B-48DB-90F6-4DC89BDE334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972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D9D1BA-A1EA-0B22-CC91-C8122B4F0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F8C8867-E260-2063-BA86-0EB3B6D5E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B13711-1E40-8E92-71B7-3EECEC05D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DE5E-C0C4-4479-AAE5-8056DFA93D80}" type="datetimeFigureOut">
              <a:rPr lang="es-MX" smtClean="0"/>
              <a:t>08/04/2026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1DF634-F457-2955-4D90-A392644C9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885307-C061-C4AD-B19B-9BFB75800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83E5A-F24B-48DB-90F6-4DC89BDE334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816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E595221-798F-06EF-A5CB-E0DFE14F7D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11C6DD3-080A-939F-84B2-53E2A0E754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7ECF83-9635-8BF2-D0A1-EDC82512B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DE5E-C0C4-4479-AAE5-8056DFA93D80}" type="datetimeFigureOut">
              <a:rPr lang="es-MX" smtClean="0"/>
              <a:t>08/04/2026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FFB1E1-9821-9D69-A53D-9D2489CA9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CE823B-7F2E-63E9-F779-E9A61A757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83E5A-F24B-48DB-90F6-4DC89BDE334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05483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8CCA4F1-22EF-8403-1234-78430EE99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D2FC4F-2CEC-6F50-27F0-856FC9EB8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D71425-816C-3D0F-163C-6529947B2D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50DE5E-C0C4-4479-AAE5-8056DFA93D80}" type="datetimeFigureOut">
              <a:rPr lang="es-MX" smtClean="0"/>
              <a:t>08/04/2026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00FC27-9184-183A-E2AC-E50BB944C1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C830D0-2FA3-05EF-0CEF-BD3D16E4F5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783E5A-F24B-48DB-90F6-4DC89BDE334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3960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ángulo 43">
            <a:extLst>
              <a:ext uri="{FF2B5EF4-FFF2-40B4-BE49-F238E27FC236}">
                <a16:creationId xmlns:a16="http://schemas.microsoft.com/office/drawing/2014/main" id="{5AAF4A75-A2FC-484F-AAB1-F01FBA16C992}"/>
              </a:ext>
            </a:extLst>
          </p:cNvPr>
          <p:cNvSpPr/>
          <p:nvPr/>
        </p:nvSpPr>
        <p:spPr>
          <a:xfrm rot="5400000">
            <a:off x="8304658" y="4030546"/>
            <a:ext cx="1039769" cy="4682592"/>
          </a:xfrm>
          <a:prstGeom prst="rect">
            <a:avLst/>
          </a:prstGeom>
          <a:solidFill>
            <a:srgbClr val="FFC00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B2B46159-2601-30EE-8AE8-A3D16B59CC34}"/>
              </a:ext>
            </a:extLst>
          </p:cNvPr>
          <p:cNvSpPr/>
          <p:nvPr/>
        </p:nvSpPr>
        <p:spPr>
          <a:xfrm>
            <a:off x="6248430" y="3797746"/>
            <a:ext cx="3408133" cy="1970757"/>
          </a:xfrm>
          <a:prstGeom prst="rect">
            <a:avLst/>
          </a:prstGeom>
          <a:solidFill>
            <a:srgbClr val="92D05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968F2F91-891C-E638-0138-AABF7C755040}"/>
              </a:ext>
            </a:extLst>
          </p:cNvPr>
          <p:cNvSpPr/>
          <p:nvPr/>
        </p:nvSpPr>
        <p:spPr>
          <a:xfrm>
            <a:off x="9703538" y="2606037"/>
            <a:ext cx="2488461" cy="3220603"/>
          </a:xfrm>
          <a:prstGeom prst="rect">
            <a:avLst/>
          </a:prstGeom>
          <a:solidFill>
            <a:schemeClr val="tx2">
              <a:lumMod val="50000"/>
              <a:lumOff val="5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DA65543A-A910-1781-E345-4626CEED066F}"/>
              </a:ext>
            </a:extLst>
          </p:cNvPr>
          <p:cNvSpPr/>
          <p:nvPr/>
        </p:nvSpPr>
        <p:spPr>
          <a:xfrm>
            <a:off x="9613229" y="1722203"/>
            <a:ext cx="2198263" cy="849570"/>
          </a:xfrm>
          <a:prstGeom prst="rect">
            <a:avLst/>
          </a:prstGeom>
          <a:solidFill>
            <a:schemeClr val="bg1">
              <a:lumMod val="75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91DD2963-E1AD-6770-3FC4-4BACBC3B2683}"/>
              </a:ext>
            </a:extLst>
          </p:cNvPr>
          <p:cNvSpPr/>
          <p:nvPr/>
        </p:nvSpPr>
        <p:spPr>
          <a:xfrm>
            <a:off x="9696425" y="114159"/>
            <a:ext cx="2333794" cy="1521601"/>
          </a:xfrm>
          <a:prstGeom prst="rect">
            <a:avLst/>
          </a:prstGeom>
          <a:solidFill>
            <a:srgbClr val="92D05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F5AF657-4E14-7479-6A23-BA19B89E7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408" y="264873"/>
            <a:ext cx="6043184" cy="309398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D1348B0-B9F4-F0D8-C1DB-D0B3AFDCE9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408" y="3186594"/>
            <a:ext cx="2386186" cy="219624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4430F26-D63F-C347-1FE8-ED0CAA2A99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3241" y="264873"/>
            <a:ext cx="3033023" cy="3703641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B169B073-C9A0-3DBD-5DCA-E2E3D0FA86CE}"/>
              </a:ext>
            </a:extLst>
          </p:cNvPr>
          <p:cNvSpPr/>
          <p:nvPr/>
        </p:nvSpPr>
        <p:spPr>
          <a:xfrm>
            <a:off x="7778592" y="523940"/>
            <a:ext cx="594544" cy="1232739"/>
          </a:xfrm>
          <a:prstGeom prst="rect">
            <a:avLst/>
          </a:prstGeom>
          <a:solidFill>
            <a:srgbClr val="92D05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CEB505A-8E3C-66C8-8FE5-0DB29ABD41A3}"/>
              </a:ext>
            </a:extLst>
          </p:cNvPr>
          <p:cNvSpPr/>
          <p:nvPr/>
        </p:nvSpPr>
        <p:spPr>
          <a:xfrm>
            <a:off x="7778592" y="2250807"/>
            <a:ext cx="594544" cy="1223579"/>
          </a:xfrm>
          <a:prstGeom prst="rect">
            <a:avLst/>
          </a:prstGeom>
          <a:solidFill>
            <a:srgbClr val="92D05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70C5948-B007-553F-F288-05BF5EEE9462}"/>
              </a:ext>
            </a:extLst>
          </p:cNvPr>
          <p:cNvSpPr/>
          <p:nvPr/>
        </p:nvSpPr>
        <p:spPr>
          <a:xfrm>
            <a:off x="7538720" y="1742807"/>
            <a:ext cx="1066800" cy="508000"/>
          </a:xfrm>
          <a:prstGeom prst="rect">
            <a:avLst/>
          </a:prstGeom>
          <a:solidFill>
            <a:schemeClr val="bg1">
              <a:lumMod val="75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10F90A9-F9AC-3A66-CE19-CB924EA781C4}"/>
              </a:ext>
            </a:extLst>
          </p:cNvPr>
          <p:cNvSpPr/>
          <p:nvPr/>
        </p:nvSpPr>
        <p:spPr>
          <a:xfrm>
            <a:off x="6881274" y="773227"/>
            <a:ext cx="370748" cy="969580"/>
          </a:xfrm>
          <a:prstGeom prst="rect">
            <a:avLst/>
          </a:prstGeom>
          <a:solidFill>
            <a:schemeClr val="tx2">
              <a:lumMod val="50000"/>
              <a:lumOff val="5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AD67025D-87B8-297F-BE14-A7A6123FFC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4239" y="3102844"/>
            <a:ext cx="3467617" cy="2113948"/>
          </a:xfrm>
          <a:prstGeom prst="rect">
            <a:avLst/>
          </a:prstGeom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0A185896-F96D-5707-D79A-EBBBBCEAAA69}"/>
              </a:ext>
            </a:extLst>
          </p:cNvPr>
          <p:cNvSpPr/>
          <p:nvPr/>
        </p:nvSpPr>
        <p:spPr>
          <a:xfrm>
            <a:off x="6886224" y="496204"/>
            <a:ext cx="882207" cy="321676"/>
          </a:xfrm>
          <a:prstGeom prst="rect">
            <a:avLst/>
          </a:prstGeom>
          <a:solidFill>
            <a:schemeClr val="tx2">
              <a:lumMod val="50000"/>
              <a:lumOff val="5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315243CC-CCA8-4FE3-B605-1D91C5445AC1}"/>
              </a:ext>
            </a:extLst>
          </p:cNvPr>
          <p:cNvGrpSpPr/>
          <p:nvPr/>
        </p:nvGrpSpPr>
        <p:grpSpPr>
          <a:xfrm flipH="1">
            <a:off x="8373135" y="496204"/>
            <a:ext cx="770211" cy="1246603"/>
            <a:chOff x="7033674" y="648604"/>
            <a:chExt cx="887157" cy="1246603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1B83E276-9201-0809-97CF-7CD834BEE517}"/>
                </a:ext>
              </a:extLst>
            </p:cNvPr>
            <p:cNvSpPr/>
            <p:nvPr/>
          </p:nvSpPr>
          <p:spPr>
            <a:xfrm>
              <a:off x="7033674" y="925627"/>
              <a:ext cx="370748" cy="969580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F81D536B-7C78-78AC-24EF-19B840BFA62B}"/>
                </a:ext>
              </a:extLst>
            </p:cNvPr>
            <p:cNvSpPr/>
            <p:nvPr/>
          </p:nvSpPr>
          <p:spPr>
            <a:xfrm>
              <a:off x="7038624" y="648604"/>
              <a:ext cx="882207" cy="321676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723DD6C-A1A5-5C64-DE57-81CC2AC0D8BE}"/>
              </a:ext>
            </a:extLst>
          </p:cNvPr>
          <p:cNvSpPr/>
          <p:nvPr/>
        </p:nvSpPr>
        <p:spPr>
          <a:xfrm>
            <a:off x="6921782" y="2723947"/>
            <a:ext cx="370748" cy="969580"/>
          </a:xfrm>
          <a:prstGeom prst="rect">
            <a:avLst/>
          </a:prstGeom>
          <a:solidFill>
            <a:schemeClr val="accent5">
              <a:lumMod val="40000"/>
              <a:lumOff val="6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4286432B-D806-FFD6-7B51-7F68C31DDDFE}"/>
              </a:ext>
            </a:extLst>
          </p:cNvPr>
          <p:cNvSpPr/>
          <p:nvPr/>
        </p:nvSpPr>
        <p:spPr>
          <a:xfrm rot="5400000">
            <a:off x="7938618" y="3173520"/>
            <a:ext cx="223462" cy="1110341"/>
          </a:xfrm>
          <a:prstGeom prst="rect">
            <a:avLst/>
          </a:prstGeom>
          <a:solidFill>
            <a:srgbClr val="FFC00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8C725FA8-E276-1E73-B643-BEDB2FF80D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1261" y="5382835"/>
            <a:ext cx="3578942" cy="1394045"/>
          </a:xfrm>
          <a:prstGeom prst="rect">
            <a:avLst/>
          </a:prstGeom>
        </p:spPr>
      </p:pic>
      <p:sp>
        <p:nvSpPr>
          <p:cNvPr id="26" name="Rectángulo 25">
            <a:extLst>
              <a:ext uri="{FF2B5EF4-FFF2-40B4-BE49-F238E27FC236}">
                <a16:creationId xmlns:a16="http://schemas.microsoft.com/office/drawing/2014/main" id="{7C459A59-F221-80B6-4394-706A59338DB1}"/>
              </a:ext>
            </a:extLst>
          </p:cNvPr>
          <p:cNvSpPr/>
          <p:nvPr/>
        </p:nvSpPr>
        <p:spPr>
          <a:xfrm>
            <a:off x="8821470" y="2217014"/>
            <a:ext cx="255240" cy="969580"/>
          </a:xfrm>
          <a:prstGeom prst="rect">
            <a:avLst/>
          </a:prstGeom>
          <a:solidFill>
            <a:schemeClr val="accent5">
              <a:lumMod val="40000"/>
              <a:lumOff val="60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53CD51EE-ED4C-594D-2600-25B55EDE1C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03918" y="5008880"/>
            <a:ext cx="2646674" cy="1768000"/>
          </a:xfrm>
          <a:prstGeom prst="rect">
            <a:avLst/>
          </a:prstGeom>
        </p:spPr>
      </p:pic>
      <p:sp>
        <p:nvSpPr>
          <p:cNvPr id="30" name="CuadroTexto 29">
            <a:extLst>
              <a:ext uri="{FF2B5EF4-FFF2-40B4-BE49-F238E27FC236}">
                <a16:creationId xmlns:a16="http://schemas.microsoft.com/office/drawing/2014/main" id="{AD2F4468-A8D5-A221-23F3-0AF60D6C80B5}"/>
              </a:ext>
            </a:extLst>
          </p:cNvPr>
          <p:cNvSpPr txBox="1"/>
          <p:nvPr/>
        </p:nvSpPr>
        <p:spPr>
          <a:xfrm>
            <a:off x="9656564" y="104284"/>
            <a:ext cx="237365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ATTESA</a:t>
            </a:r>
          </a:p>
          <a:p>
            <a:r>
              <a:rPr lang="es-MX" sz="1600" dirty="0"/>
              <a:t>- Considerar módulos como la imagen adjunta (sin conexión). colores </a:t>
            </a:r>
            <a:r>
              <a:rPr lang="es-MX" sz="1600" dirty="0" err="1"/>
              <a:t>monocrom</a:t>
            </a:r>
            <a:r>
              <a:rPr lang="es-MX" sz="1600" dirty="0"/>
              <a:t>. TELA-PERMABLOK (FOLIO).</a:t>
            </a:r>
          </a:p>
          <a:p>
            <a:endParaRPr lang="es-MX" sz="1600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B1A462F8-DCA9-78B3-F99E-12C18579B57D}"/>
              </a:ext>
            </a:extLst>
          </p:cNvPr>
          <p:cNvSpPr txBox="1"/>
          <p:nvPr/>
        </p:nvSpPr>
        <p:spPr>
          <a:xfrm>
            <a:off x="9665427" y="1677343"/>
            <a:ext cx="229237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ZONA DE JUEGOS</a:t>
            </a:r>
          </a:p>
          <a:p>
            <a:r>
              <a:rPr lang="es-MX" sz="1600" dirty="0"/>
              <a:t>- Considerar el espacio para zona de juegos.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7508A80E-471B-5F88-2476-A7CCFD95B934}"/>
              </a:ext>
            </a:extLst>
          </p:cNvPr>
          <p:cNvSpPr txBox="1"/>
          <p:nvPr/>
        </p:nvSpPr>
        <p:spPr>
          <a:xfrm>
            <a:off x="9645886" y="2502654"/>
            <a:ext cx="264667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SETTO</a:t>
            </a:r>
          </a:p>
          <a:p>
            <a:pPr marL="285750" indent="-285750">
              <a:buFontTx/>
              <a:buChar char="-"/>
            </a:pPr>
            <a:r>
              <a:rPr lang="es-MX" sz="1600" dirty="0"/>
              <a:t>Considerar mamparas de 1.2 considerar panel acústico color verde y los sillones ocupar colores </a:t>
            </a:r>
            <a:r>
              <a:rPr lang="es-MX" sz="1600" dirty="0" err="1"/>
              <a:t>monocrom</a:t>
            </a:r>
            <a:r>
              <a:rPr lang="es-MX" sz="1600" dirty="0"/>
              <a:t>. TELA-PERMABLOK (FOLIO).</a:t>
            </a:r>
          </a:p>
          <a:p>
            <a:pPr marL="285750" indent="-285750">
              <a:buFontTx/>
              <a:buChar char="-"/>
            </a:pPr>
            <a:r>
              <a:rPr lang="es-MX" sz="1600" dirty="0"/>
              <a:t>Considerar el tipo de mesa auxiliar y mesa </a:t>
            </a:r>
            <a:r>
              <a:rPr lang="es-MX" sz="1600" dirty="0" err="1"/>
              <a:t>livello</a:t>
            </a:r>
            <a:r>
              <a:rPr lang="es-MX" sz="1600" dirty="0"/>
              <a:t> </a:t>
            </a:r>
            <a:r>
              <a:rPr lang="es-MX" sz="1600" dirty="0" err="1"/>
              <a:t>aux</a:t>
            </a:r>
            <a:r>
              <a:rPr lang="es-MX" sz="1600" dirty="0"/>
              <a:t>. cubierta en polar y estructura blanca</a:t>
            </a: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C832B873-EAED-AF01-A967-BD77529C833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70111" y="4405049"/>
            <a:ext cx="743455" cy="1207662"/>
          </a:xfrm>
          <a:prstGeom prst="rect">
            <a:avLst/>
          </a:prstGeom>
        </p:spPr>
      </p:pic>
      <p:sp>
        <p:nvSpPr>
          <p:cNvPr id="39" name="CuadroTexto 38">
            <a:extLst>
              <a:ext uri="{FF2B5EF4-FFF2-40B4-BE49-F238E27FC236}">
                <a16:creationId xmlns:a16="http://schemas.microsoft.com/office/drawing/2014/main" id="{B79D1566-14F6-A040-BDA1-846042CAFA02}"/>
              </a:ext>
            </a:extLst>
          </p:cNvPr>
          <p:cNvSpPr txBox="1"/>
          <p:nvPr/>
        </p:nvSpPr>
        <p:spPr>
          <a:xfrm>
            <a:off x="6294512" y="3846704"/>
            <a:ext cx="339175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ATTESA</a:t>
            </a:r>
          </a:p>
          <a:p>
            <a:pPr marL="285750" indent="-285750">
              <a:buFontTx/>
              <a:buChar char="-"/>
            </a:pPr>
            <a:r>
              <a:rPr lang="es-MX" sz="1600" dirty="0"/>
              <a:t>Considerar módulos sin contacto con TELA-PERMABLOK (FOLIO) en colores </a:t>
            </a:r>
            <a:r>
              <a:rPr lang="es-MX" sz="1600" dirty="0" err="1"/>
              <a:t>monocromaticos</a:t>
            </a:r>
            <a:r>
              <a:rPr lang="es-MX" sz="1600" dirty="0"/>
              <a:t>).</a:t>
            </a:r>
          </a:p>
          <a:p>
            <a:pPr marL="285750" indent="-285750">
              <a:buFontTx/>
              <a:buChar char="-"/>
            </a:pPr>
            <a:r>
              <a:rPr lang="es-MX" sz="1600" dirty="0"/>
              <a:t>Mesas con diferente diámetro y altura.</a:t>
            </a:r>
          </a:p>
          <a:p>
            <a:endParaRPr lang="es-MX" sz="1600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FB1B7B2-3893-76A2-F679-CFCC2818689F}"/>
              </a:ext>
            </a:extLst>
          </p:cNvPr>
          <p:cNvSpPr txBox="1"/>
          <p:nvPr/>
        </p:nvSpPr>
        <p:spPr>
          <a:xfrm>
            <a:off x="6426592" y="5804235"/>
            <a:ext cx="543382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ATTESA</a:t>
            </a:r>
          </a:p>
          <a:p>
            <a:pPr marL="285750" indent="-285750">
              <a:buFontTx/>
              <a:buChar char="-"/>
            </a:pPr>
            <a:r>
              <a:rPr lang="es-MX" sz="1600" dirty="0"/>
              <a:t>Considerar silla lounge </a:t>
            </a:r>
            <a:r>
              <a:rPr lang="es-MX" sz="1600" dirty="0" err="1"/>
              <a:t>Marena</a:t>
            </a:r>
            <a:r>
              <a:rPr lang="es-MX" sz="1600" dirty="0"/>
              <a:t> en azul</a:t>
            </a:r>
          </a:p>
          <a:p>
            <a:pPr marL="285750" indent="-285750">
              <a:buFontTx/>
              <a:buChar char="-"/>
            </a:pPr>
            <a:r>
              <a:rPr lang="es-MX" sz="1600" dirty="0"/>
              <a:t>Considerar mesas circulares a cada 2 o 3 sillas. (dependiendo el diseño)</a:t>
            </a:r>
          </a:p>
          <a:p>
            <a:endParaRPr lang="es-MX" sz="1600" dirty="0"/>
          </a:p>
        </p:txBody>
      </p:sp>
    </p:spTree>
    <p:extLst>
      <p:ext uri="{BB962C8B-B14F-4D97-AF65-F5344CB8AC3E}">
        <p14:creationId xmlns:p14="http://schemas.microsoft.com/office/powerpoint/2010/main" val="3097964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BE21445-0743-37F8-7FFE-9E2C31ECFCA9}"/>
              </a:ext>
            </a:extLst>
          </p:cNvPr>
          <p:cNvSpPr txBox="1"/>
          <p:nvPr/>
        </p:nvSpPr>
        <p:spPr>
          <a:xfrm>
            <a:off x="558800" y="477520"/>
            <a:ext cx="112674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NOTAS DEL CLIENTE: </a:t>
            </a:r>
          </a:p>
          <a:p>
            <a:pPr fontAlgn="base"/>
            <a:r>
              <a:rPr lang="es-MX" sz="1600" dirty="0"/>
              <a:t>Buscamos capacidad para 34 </a:t>
            </a:r>
            <a:r>
              <a:rPr lang="es-MX" sz="1600" dirty="0" err="1"/>
              <a:t>Pax</a:t>
            </a:r>
            <a:r>
              <a:rPr lang="es-MX" sz="1600" dirty="0"/>
              <a:t>. ya que se está contemplando una mesa de futbolito/sofás/sillones/bancas de descanso sin tapizar o con un tapizado que no sea en tela para evitar plagas como chinches</a:t>
            </a:r>
          </a:p>
          <a:p>
            <a:pPr fontAlgn="base"/>
            <a:r>
              <a:rPr lang="es-MX" sz="1600" dirty="0"/>
              <a:t>Se trata de un espacio de 10 x 7 m</a:t>
            </a:r>
          </a:p>
          <a:p>
            <a:endParaRPr lang="es-MX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C360CF7-DC27-F857-6D87-CFCFB26F3270}"/>
              </a:ext>
            </a:extLst>
          </p:cNvPr>
          <p:cNvSpPr txBox="1"/>
          <p:nvPr/>
        </p:nvSpPr>
        <p:spPr>
          <a:xfrm>
            <a:off x="558800" y="1679787"/>
            <a:ext cx="1126744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NOTAS ASESOR: </a:t>
            </a:r>
          </a:p>
          <a:p>
            <a:pPr marL="285750" indent="-285750" fontAlgn="base">
              <a:buFontTx/>
              <a:buChar char="-"/>
            </a:pPr>
            <a:r>
              <a:rPr lang="es-MX" sz="1600" dirty="0"/>
              <a:t>Considerar tapizar con la tela PERMABLOK, considerando para sofás (2 COLORES, ASIENTO Y RESPALDO).</a:t>
            </a:r>
          </a:p>
          <a:p>
            <a:pPr marL="285750" indent="-285750" fontAlgn="base">
              <a:buFontTx/>
              <a:buChar char="-"/>
            </a:pPr>
            <a:r>
              <a:rPr lang="es-MX" sz="1600" dirty="0"/>
              <a:t>Todos los laminados serán de ENCINO POLAR</a:t>
            </a:r>
          </a:p>
          <a:p>
            <a:pPr marL="285750" indent="-285750" fontAlgn="base">
              <a:buFontTx/>
              <a:buChar char="-"/>
            </a:pPr>
            <a:r>
              <a:rPr lang="es-MX" sz="1600" dirty="0"/>
              <a:t>Todos los metales, color BLANCO.</a:t>
            </a:r>
          </a:p>
          <a:p>
            <a:pPr marL="285750" indent="-285750" fontAlgn="base">
              <a:buFontTx/>
              <a:buChar char="-"/>
            </a:pPr>
            <a:r>
              <a:rPr lang="es-MX" sz="1600" dirty="0"/>
              <a:t>Mampara, en ACUSTICO COLOR VERDE.</a:t>
            </a:r>
          </a:p>
          <a:p>
            <a:pPr marL="285750" indent="-285750" fontAlgn="base">
              <a:buFontTx/>
              <a:buChar char="-"/>
            </a:pPr>
            <a:r>
              <a:rPr lang="es-MX" sz="1600" dirty="0"/>
              <a:t>Adjunto CAD</a:t>
            </a:r>
          </a:p>
          <a:p>
            <a:pPr marL="285750" indent="-285750" fontAlgn="base">
              <a:buFontTx/>
              <a:buChar char="-"/>
            </a:pPr>
            <a:r>
              <a:rPr lang="es-MX" sz="1600" dirty="0"/>
              <a:t>Adjunto información que nos </a:t>
            </a:r>
            <a:r>
              <a:rPr lang="es-MX" sz="1600" dirty="0" err="1"/>
              <a:t>envia</a:t>
            </a:r>
            <a:r>
              <a:rPr lang="es-MX" sz="1600" dirty="0"/>
              <a:t> el cliente.</a:t>
            </a:r>
          </a:p>
          <a:p>
            <a:pPr marL="285750" indent="-285750" fontAlgn="base">
              <a:buFontTx/>
              <a:buChar char="-"/>
            </a:pPr>
            <a:r>
              <a:rPr lang="es-MX" sz="1600" dirty="0"/>
              <a:t>Busca mejorar y dar diseño a la propuesta.</a:t>
            </a:r>
          </a:p>
          <a:p>
            <a:pPr marL="285750" indent="-285750" fontAlgn="base">
              <a:buFontTx/>
              <a:buChar char="-"/>
            </a:pPr>
            <a:endParaRPr lang="es-MX" sz="1600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089974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227</Words>
  <Application>Microsoft Office PowerPoint</Application>
  <PresentationFormat>Panorámica</PresentationFormat>
  <Paragraphs>25</Paragraphs>
  <Slides>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Daniela García Escamilla</dc:creator>
  <cp:lastModifiedBy>Daniela García Escamilla</cp:lastModifiedBy>
  <cp:revision>1</cp:revision>
  <dcterms:created xsi:type="dcterms:W3CDTF">2026-04-08T21:34:30Z</dcterms:created>
  <dcterms:modified xsi:type="dcterms:W3CDTF">2026-04-09T04:36:07Z</dcterms:modified>
</cp:coreProperties>
</file>